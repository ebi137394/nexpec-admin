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121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82296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1F5F9"/>
                </a:solidFill>
                <a:latin typeface="Georgia"/>
              </a:rPr>
              <a:t>NEXPEC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578608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6148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A78BFA"/>
                </a:solidFill>
                <a:latin typeface="Georgia"/>
              </a:rPr>
              <a:t>The Provable-Trust Layer for Industrial Asset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1129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8C7"/>
                </a:solidFill>
                <a:latin typeface="Calibri"/>
              </a:rPr>
              <a:t>Inspection, reimagined as cryptographically verifiable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224528"/>
            <a:ext cx="4023360" cy="384048"/>
          </a:xfrm>
          <a:prstGeom prst="roundRect">
            <a:avLst>
              <a:gd name="adj" fmla="val 20000"/>
            </a:avLst>
          </a:prstGeom>
          <a:solidFill>
            <a:srgbClr val="0E1530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224528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8BFA"/>
                </a:solidFill>
                <a:latin typeface="Consolas"/>
              </a:rPr>
              <a:t>0x9f3a4c…b71c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✓ SEALED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9612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ebi</a:t>
            </a:r>
            <a:r>
              <a:rPr sz="1250" b="0" i="0">
                <a:solidFill>
                  <a:srgbClr val="9AA8C7"/>
                </a:solidFill>
                <a:latin typeface="Calibri"/>
              </a:rPr>
              <a:t>   —   NDT inspector &amp; oil-&amp;-gas engineering consultant  ·  [years / certifications]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CONFIDENTIAL  ·  [YEAR]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Industrial inspection runs on trust nobody can prove.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474720" cy="27432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1840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Georgia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5292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Georgia"/>
              </a:rPr>
              <a:t>Trust is unprovable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10128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8C7"/>
                </a:solidFill>
                <a:latin typeface="Calibri"/>
              </a:rPr>
              <a:t>A defect photo is a JPEG someone emailed. A sign-off is a name typed in Word. No way to prove the photo wasn't swapped or the finding edited.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965960"/>
            <a:ext cx="3474720" cy="27432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4568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1840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40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Georgia"/>
              </a:rPr>
              <a:t>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85292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Georgia"/>
              </a:rPr>
              <a:t>Audits are archaeology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310128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8C7"/>
                </a:solidFill>
                <a:latin typeface="Calibri"/>
              </a:rPr>
              <a:t>Compliance teams reassemble months of fragmented records by hand — weeks of work, and still not defensible to a regulator.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965960"/>
            <a:ext cx="3474720" cy="27432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66176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1840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240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Georgia"/>
              </a:rP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85292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Georgia"/>
              </a:rPr>
              <a:t>Failure is catastrophic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3310128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8C7"/>
                </a:solidFill>
                <a:latin typeface="Calibri"/>
              </a:rPr>
              <a:t>When a falsely-inspected asset fails, people die and companies face existential liability — on a trust primitive that doesn't actually exist.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A78BFA"/>
                </a:solidFill>
                <a:latin typeface="Georgia"/>
              </a:rPr>
              <a:t>“ I have stood on a scaffold at 2am signing off on a weld, knowing the paper trail behind it could never survive a real audit. ”  — [ebi / your story]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The trust gap just became unignorable.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3042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42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9424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Georgia"/>
              </a:rPr>
              <a:t>Aging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98648"/>
            <a:ext cx="4251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Decades-old pipelines, vessels and structures are hitting end-of-life — inspection volume and stakes rise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0116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1" y="23042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23042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2249424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Georgia"/>
              </a:rPr>
              <a:t>Tightening 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898648"/>
            <a:ext cx="4251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Regulators, insurers and ESG mandates increasingly demand auditable, tamper-evident proof — not a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43616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3616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06824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Georgia"/>
              </a:rPr>
              <a:t>AI makes new primitives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56048"/>
            <a:ext cx="4251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On-device + cryptographic tooling now lets a small team ship regulator-grade trust that was impossible a few years ago.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0690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1" y="43616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3616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4306824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Georgia"/>
              </a:rPr>
              <a:t>Enterprises want provable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4956048"/>
            <a:ext cx="4251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Fortune-500 integrity teams are actively replacing spreadsheet-and-email workflows. The budget is moving now.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9D4EC"/>
                </a:solidFill>
                <a:latin typeface="Georgia"/>
              </a:rPr>
              <a:t>Inspection isn't a service to coordinate.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1F5F9"/>
                </a:solidFill>
                <a:latin typeface="Georgia"/>
              </a:rPr>
              <a:t>It's evidence to prove.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71800"/>
            <a:ext cx="5349240" cy="283464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THE OLD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4709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1F5F9"/>
                </a:solidFill>
                <a:latin typeface="Calibri"/>
              </a:rPr>
              <a:t>Coordinate a service.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8C7"/>
                </a:solidFill>
                <a:latin typeface="Calibri"/>
              </a:rPr>
              <a:t>Marketplaces, procurement tools and audit software bolt compliance on after the fact — over a data model that treats an inspection photo as an opaque file URL.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971800"/>
            <a:ext cx="5349240" cy="2834640"/>
          </a:xfrm>
          <a:prstGeom prst="roundRect">
            <a:avLst>
              <a:gd name="adj" fmla="val 7000"/>
            </a:avLst>
          </a:prstGeom>
          <a:solidFill>
            <a:srgbClr val="1A1140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91072" y="2971800"/>
            <a:ext cx="64008" cy="2834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246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Calibri"/>
              </a:rPr>
              <a:t>THE NEXPEC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1188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1F5F9"/>
                </a:solidFill>
                <a:latin typeface="Calibri"/>
              </a:rPr>
              <a:t>Prove the evidence.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8C7"/>
                </a:solidFill>
                <a:latin typeface="Calibri"/>
              </a:rPr>
              <a:t>Build the unified, cryptographically-anchored data model first. Every feature composes on top of it. This cannot be bolted on later — and that is the whole moat.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PRODUCT — LIVE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The Trust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11880" cy="1874519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185415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1F5F9"/>
                </a:solidFill>
                <a:latin typeface="Georgia"/>
              </a:rPr>
              <a:t>Provable Inspection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220370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0E3A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220370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alibri"/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07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Every photo SHA-256 hashed &amp; chained at capture; a report seal binds photos, findings &amp; inspector identity under one anchor hash. Inspector signs, client countersigns.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965960"/>
            <a:ext cx="3611880" cy="1874519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185415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1F5F9"/>
                </a:solidFill>
                <a:latin typeface="Georgia"/>
              </a:rPr>
              <a:t>Compliance Evidence Locker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22592" y="220370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0E3A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220370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alibri"/>
              </a:rPr>
              <a:t>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807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One call assembles a deterministic, byte-identical evidence pack of a job's entire lifecycle — ready for cryptographic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965960"/>
            <a:ext cx="3611880" cy="1874519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2185415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1F5F9"/>
                </a:solidFill>
                <a:latin typeface="Georgia"/>
              </a:rPr>
              <a:t>The Public Verifier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1" y="220370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0E3A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25911" y="220370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alibri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28072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A no-login page where any auditor recomputes every hash in their own browser. Our servers are never involved.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95728" y="4023360"/>
            <a:ext cx="3611880" cy="1874519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242816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1F5F9"/>
                </a:solidFill>
                <a:latin typeface="Georgia"/>
              </a:rPr>
              <a:t>Procurement Control Plane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426110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0E3A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426110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alibr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8646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SOX-404 controls in the database, not the app — Segregation of Duties enforced by a constraint trigger that cannot record a self-approval.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9048" y="4023360"/>
            <a:ext cx="3611880" cy="1874519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242816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1F5F9"/>
                </a:solidFill>
                <a:latin typeface="Georgia"/>
              </a:rPr>
              <a:t>Compliance Command Center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426110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0E3A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26110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alibri"/>
              </a:rPr>
              <a:t>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6460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Real-time anomaly detection over the immutable audit trail: band evasion, rubber-stamping, concentration risk, off-hours &amp; silent overrides.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MAGIC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Proof without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3774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377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7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Photo SHA-256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hashed + chained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148840"/>
            <a:ext cx="31089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78BFA"/>
                </a:solidFill>
                <a:latin typeface="Georgia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4884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774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07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Seal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Inspector signs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the report root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148840"/>
            <a:ext cx="31089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78BFA"/>
                </a:solidFill>
                <a:latin typeface="Georgia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4884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7879" y="23774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79" y="2377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2907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Countersign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Client co-signs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the same root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1" y="2148840"/>
            <a:ext cx="31089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78BFA"/>
                </a:solidFill>
                <a:latin typeface="Georgia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14884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3879" y="23774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377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907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Evidence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Deterministic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bundle assembled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148840"/>
            <a:ext cx="31089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78BFA"/>
                </a:solidFill>
                <a:latin typeface="Georgia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14884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1A1140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2148840"/>
            <a:ext cx="20116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9880" y="237744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2377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907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Auditor recomputes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in-browser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5262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A78BFA"/>
                </a:solidFill>
                <a:latin typeface="Georgia"/>
              </a:rPr>
              <a:t>“ The algorithm is the proof — not our reputation. 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212080"/>
            <a:ext cx="92628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8C7"/>
                </a:solidFill>
                <a:latin typeface="Calibri"/>
              </a:rPr>
              <a:t>Nothing leaves the auditor's machine. No account. No vendor trust required. That is the difference between a marketplace and an integrity standard.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COMPLETE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Depth competitors can't bolt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185416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Enterprise 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Multi-tenant orgs · department hierarchy · cost-center attribution · active org switcher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92024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2185416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103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Marketplace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8716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Geospatial matching · reputation engine · full job-lifecycle state machine · applications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92024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7888" y="2185416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4776" y="21031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Field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8716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Photo capture + EXIF/GPS · device attestation · structured findings · mobile workspace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3785615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7033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Payments &amp; 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8736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Stripe escrow + Connect payouts · wallet · 9-currency live FX cron · platform spread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352044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80" y="3785615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7033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Compliance &amp;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08736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Contracts + e-signatures · disputes · two-way reviews · CCI onboarding · consent receipts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352044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47888" y="3785615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94776" y="37033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Platform spine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08736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8C7"/>
                </a:solidFill>
                <a:latin typeface="Calibri"/>
              </a:rPr>
              <a:t>RPC-only mutations · immutable audit_events · realtime · web + mobile on one shared 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12080"/>
            <a:ext cx="11091672" cy="713232"/>
          </a:xfrm>
          <a:prstGeom prst="roundRect">
            <a:avLst>
              <a:gd name="adj" fmla="val 8000"/>
            </a:avLst>
          </a:prstGeom>
          <a:solidFill>
            <a:srgbClr val="12132E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85232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78BFA"/>
                </a:solidFill>
                <a:latin typeface="Georgia"/>
              </a:rPr>
              <a:t>5  </a:t>
            </a:r>
            <a:r>
              <a:rPr sz="1200" b="0" i="0">
                <a:solidFill>
                  <a:srgbClr val="9AA8C7"/>
                </a:solidFill>
                <a:latin typeface="Calibri"/>
              </a:rPr>
              <a:t>inspection domains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5349240"/>
            <a:ext cx="10972" cy="438912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02152" y="5285232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78BFA"/>
                </a:solidFill>
                <a:latin typeface="Georgia"/>
              </a:rPr>
              <a:t>25  </a:t>
            </a:r>
            <a:r>
              <a:rPr sz="1200" b="0" i="0">
                <a:solidFill>
                  <a:srgbClr val="9AA8C7"/>
                </a:solidFill>
                <a:latin typeface="Calibri"/>
              </a:rPr>
              <a:t>edge functions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2472" y="5349240"/>
            <a:ext cx="10972" cy="438912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3" y="5285232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78BFA"/>
                </a:solidFill>
                <a:latin typeface="Georgia"/>
              </a:rPr>
              <a:t>118  </a:t>
            </a:r>
            <a:r>
              <a:rPr sz="1200" b="0" i="0">
                <a:solidFill>
                  <a:srgbClr val="9AA8C7"/>
                </a:solidFill>
                <a:latin typeface="Calibri"/>
              </a:rPr>
              <a:t>DB migrations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33104" y="5349240"/>
            <a:ext cx="10972" cy="438912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43415" y="5285232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78BFA"/>
                </a:solidFill>
                <a:latin typeface="Georgia"/>
              </a:rPr>
              <a:t>1  </a:t>
            </a:r>
            <a:r>
              <a:rPr sz="1200" b="0" i="0">
                <a:solidFill>
                  <a:srgbClr val="9AA8C7"/>
                </a:solidFill>
                <a:latin typeface="Calibri"/>
              </a:rPr>
              <a:t>shared web + mobile 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MOATS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Three moats that compound.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310896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47472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317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260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Georgia"/>
              </a:rPr>
              <a:t>Verifiability without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5760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8C7"/>
                </a:solidFill>
                <a:latin typeface="Calibri"/>
              </a:rPr>
              <a:t>A public verifier that doesn't call home requires a from-day-one engineering posture. Competitors would have to rebuild their core to copy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2011680"/>
            <a:ext cx="3474720" cy="310896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2011680"/>
            <a:ext cx="347472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44568" y="2331720"/>
            <a:ext cx="457200" cy="457200"/>
          </a:xfrm>
          <a:prstGeom prst="ellipse">
            <a:avLst/>
          </a:prstGeom>
          <a:solidFill>
            <a:srgbClr val="0E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9260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Georgia"/>
              </a:rPr>
              <a:t>The Data Flywheel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65760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8C7"/>
                </a:solidFill>
                <a:latin typeface="Calibri"/>
              </a:rPr>
              <a:t>Every sealed, human-verified inspection is a proprietary, provenance-stamped datapoint. The dataset compounds with every job — and can't be replicated.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011680"/>
            <a:ext cx="3474720" cy="310896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2011680"/>
            <a:ext cx="347472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66176" y="2331720"/>
            <a:ext cx="457200" cy="457200"/>
          </a:xfrm>
          <a:prstGeom prst="ellipse">
            <a:avLst/>
          </a:prstGeom>
          <a:solidFill>
            <a:srgbClr val="8A6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9260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Georgia"/>
              </a:rPr>
              <a:t>$0-cost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65760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8C7"/>
                </a:solidFill>
                <a:latin typeface="Calibri"/>
              </a:rPr>
              <a:t>AI runs on-device, in Postgres and on our own GPU. Zero per-inference API cost → software margins + a data-sovereignty guarantee enterprises can't get elsewhere.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A high-margin brain we own outright.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2468880" cy="13716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Georgia"/>
              </a:rPr>
              <a:t>In-house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Train on our own metal.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Capex, not API bills.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57400"/>
            <a:ext cx="457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A78BFA"/>
                </a:solidFill>
                <a:latin typeface="Georgia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05740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1A1140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240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Georgia"/>
              </a:rPr>
              <a:t>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Full crown-jewel model.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Never leaves our infra.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Trade secret.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57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A78BFA"/>
                </a:solidFill>
                <a:latin typeface="Georgia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05740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240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Georgia"/>
              </a:rP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0604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Distilled, on-device.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The AI Co-Inspector,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human-sealed.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057400"/>
            <a:ext cx="1993392" cy="1371600"/>
          </a:xfrm>
          <a:prstGeom prst="roundRect">
            <a:avLst>
              <a:gd name="adj" fmla="val 7000"/>
            </a:avLst>
          </a:prstGeom>
          <a:solidFill>
            <a:srgbClr val="12132E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20574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Georgia"/>
              </a:rPr>
              <a:t>Sell access,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Georgia"/>
              </a:rPr>
              <a:t>not the artifact.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3474720" cy="178308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95020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1F5F9"/>
                </a:solidFill>
                <a:latin typeface="Georgia"/>
              </a:rPr>
              <a:t>$0 recurring API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38912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On-device + in-Postgres + self-hosted. No metered third-party inference, ever.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3749039"/>
            <a:ext cx="3474720" cy="178308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95020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1F5F9"/>
                </a:solidFill>
                <a:latin typeface="Georgia"/>
              </a:rPr>
              <a:t>Data sovereignty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38912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Your asset data never touches a third-party AI — a guarantee no competitor can offer.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1856" y="3749039"/>
            <a:ext cx="3474720" cy="178308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395020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1F5F9"/>
                </a:solidFill>
                <a:latin typeface="Georgia"/>
              </a:rPr>
              <a:t>Compounding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38912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The model improves for free as inspection volume grows. They pay per call; we don't.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FOUNDER–MARKET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Built by someone who lived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49240" cy="356616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31720"/>
            <a:ext cx="914400" cy="914400"/>
          </a:xfrm>
          <a:prstGeom prst="ellipse">
            <a:avLst/>
          </a:prstGeom>
          <a:solidFill>
            <a:srgbClr val="2A1840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78BFA"/>
                </a:solidFill>
                <a:latin typeface="Georgia"/>
              </a:rPr>
              <a:t>ebi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39572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1F5F9"/>
                </a:solidFill>
                <a:latin typeface="Georgia"/>
              </a:rPr>
              <a:t>ebi, 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78892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8BFA"/>
                </a:solidFill>
                <a:latin typeface="Calibri"/>
              </a:rPr>
              <a:t>NDT inspector &amp; oil-&amp;-gas engineering consultant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4709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9AA8C7"/>
                </a:solidFill>
                <a:latin typeface="Calibri"/>
              </a:rPr>
              <a:t>[ Fill in: years in the field · NDT certs &amp; levels (ASNT II/III, PCN/CSWIP, AWS CWI) · API 510/570/653 · sectors &amp; assets (refineries, pipelines, vessels, tanks) · regions &amp; operators · team.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011680"/>
            <a:ext cx="5349240" cy="3566160"/>
          </a:xfrm>
          <a:prstGeom prst="roundRect">
            <a:avLst>
              <a:gd name="adj" fmla="val 7000"/>
            </a:avLst>
          </a:prstGeom>
          <a:solidFill>
            <a:srgbClr val="1A1140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2011680"/>
            <a:ext cx="64008" cy="3566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78BFA"/>
                </a:solidFill>
                <a:latin typeface="Georgia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Only someone who has done the inspection knows why chain-of-custody, calibration-validity and schema-enforced controls are what actually win the enterprise.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8C7"/>
                </a:solidFill>
                <a:latin typeface="Calibri"/>
              </a:rPr>
              <a:t>Every incumbent that treats an inspection photo as an opaque file URL has already lost. Founder-market fit isn't a slide here — it's the reason the product is built correctly.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A massive market, a sharp wedge.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474720" cy="192024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Georgia"/>
              </a:rPr>
              <a:t>[ $XX B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004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Global Testing, Inspection &amp; Certification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965960"/>
            <a:ext cx="3474720" cy="192024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148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468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Georgia"/>
              </a:rPr>
              <a:t>[ $X B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2004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Software-addressable industrial inspection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965960"/>
            <a:ext cx="3474720" cy="1920240"/>
          </a:xfrm>
          <a:prstGeom prst="roundRect">
            <a:avLst>
              <a:gd name="adj" fmla="val 7000"/>
            </a:avLst>
          </a:prstGeom>
          <a:solidFill>
            <a:srgbClr val="1A1140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48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468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Georgia"/>
              </a:rPr>
              <a:t>[ $XXX M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32004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8C7"/>
                </a:solidFill>
                <a:latin typeface="Calibri"/>
              </a:rPr>
              <a:t>Near-term wedge: oil &amp; gas inspection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Georgia"/>
              </a:rPr>
              <a:t>Wedge → expansion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3474720" cy="1051560"/>
          </a:xfrm>
          <a:prstGeom prst="roundRect">
            <a:avLst>
              <a:gd name="adj" fmla="val 7000"/>
            </a:avLst>
          </a:prstGeom>
          <a:solidFill>
            <a:srgbClr val="12132E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5720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Oil &amp; gas inspection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4572000"/>
            <a:ext cx="4114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78BFA"/>
                </a:solidFill>
                <a:latin typeface="Georgia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4572000"/>
            <a:ext cx="3474720" cy="1051560"/>
          </a:xfrm>
          <a:prstGeom prst="roundRect">
            <a:avLst>
              <a:gd name="adj" fmla="val 7000"/>
            </a:avLst>
          </a:prstGeom>
          <a:solidFill>
            <a:srgbClr val="12132E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5720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5 inspection domains (already built)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4572000"/>
            <a:ext cx="4114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78BFA"/>
                </a:solidFill>
                <a:latin typeface="Georgia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1856" y="4572000"/>
            <a:ext cx="3474720" cy="1051560"/>
          </a:xfrm>
          <a:prstGeom prst="roundRect">
            <a:avLst>
              <a:gd name="adj" fmla="val 7000"/>
            </a:avLst>
          </a:prstGeom>
          <a:solidFill>
            <a:srgbClr val="12132E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45720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Adjacent asset integrity: energy · utilities · infra · manufacturing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Market figures are placeholders — insert sourced TAM/SAM/SOM before sharing externally.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Four expanding revenue lines, software margins.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49240" cy="13716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3042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42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1284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1F5F9"/>
                </a:solidFill>
                <a:latin typeface="Georgia"/>
              </a:rPr>
              <a:t>Marketplace take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15184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A fee on every inspection transaction. Escrow + payouts already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011680"/>
            <a:ext cx="5349240" cy="13716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1" y="23042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23042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221284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1F5F9"/>
                </a:solidFill>
                <a:latin typeface="Georgia"/>
              </a:rPr>
              <a:t>Enterprise compliance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615184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Per-seat / per-site subscription for the Control Plane + Command Center + Evidence Locker.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349240" cy="13716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39044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904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1304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1F5F9"/>
                </a:solidFill>
                <a:latin typeface="Georgia"/>
              </a:rPr>
              <a:t>Intelligence-as-a-Service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15384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Metered access to the Teacher model. Others pay us; the weights never leave.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611880"/>
            <a:ext cx="5349240" cy="13716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1" y="39044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3904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81304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1F5F9"/>
                </a:solidFill>
                <a:latin typeface="Georgia"/>
              </a:rPr>
              <a:t>Data / insights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4215384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Anonymized, benchmarked industry intelligence — unique to our provenance-sealed dataset.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5780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0E3A2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57800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$0 recurring AI cost  </a:t>
            </a:r>
            <a:r>
              <a:rPr sz="1400" b="0" i="0">
                <a:solidFill>
                  <a:srgbClr val="F1F5F9"/>
                </a:solidFill>
                <a:latin typeface="Calibri"/>
              </a:rPr>
              <a:t>→  exceptional incremental gross margin on the intelligence layer.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The only one that unifies all three.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2743200" cy="457200"/>
          </a:xfrm>
          <a:prstGeom prst="rect">
            <a:avLst/>
          </a:prstGeom>
          <a:solidFill>
            <a:srgbClr val="12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574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057400"/>
            <a:ext cx="2651760" cy="457200"/>
          </a:xfrm>
          <a:prstGeom prst="rect">
            <a:avLst/>
          </a:prstGeom>
          <a:solidFill>
            <a:srgbClr val="12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2057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Examples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57400"/>
            <a:ext cx="2651760" cy="457200"/>
          </a:xfrm>
          <a:prstGeom prst="rect">
            <a:avLst/>
          </a:prstGeom>
          <a:solidFill>
            <a:srgbClr val="12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2057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Strength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057400"/>
            <a:ext cx="3044952" cy="457200"/>
          </a:xfrm>
          <a:prstGeom prst="rect">
            <a:avLst/>
          </a:prstGeom>
          <a:solidFill>
            <a:srgbClr val="12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9952" y="2057400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14600"/>
            <a:ext cx="274320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514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1F5F9"/>
                </a:solidFill>
                <a:latin typeface="Calibri"/>
              </a:rPr>
              <a:t>Field-service marketplaces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514600"/>
            <a:ext cx="265176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5146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ServiceTitan, Jobber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514600"/>
            <a:ext cx="265176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25146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Operationally rich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514600"/>
            <a:ext cx="3044952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9952" y="2514600"/>
            <a:ext cx="27706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Compliance-thin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54680"/>
            <a:ext cx="274320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1F5F9"/>
                </a:solidFill>
                <a:latin typeface="Calibri"/>
              </a:rPr>
              <a:t>Procurement platforms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154680"/>
            <a:ext cx="265176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154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Coupa, Ariba, Ivalua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154680"/>
            <a:ext cx="265176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3154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Financially rigorous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154680"/>
            <a:ext cx="3044952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9952" y="3154680"/>
            <a:ext cx="27706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Marketplace-thin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94760"/>
            <a:ext cx="274320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7947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1F5F9"/>
                </a:solidFill>
                <a:latin typeface="Calibri"/>
              </a:rPr>
              <a:t>GRC / audit tooling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794760"/>
            <a:ext cx="265176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37947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AuditBoard, Workiva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794760"/>
            <a:ext cx="2651760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37947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Compliance-rich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794760"/>
            <a:ext cx="3044952" cy="640080"/>
          </a:xfrm>
          <a:prstGeom prst="rect">
            <a:avLst/>
          </a:prstGeom>
          <a:solidFill>
            <a:srgbClr val="16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9952" y="3794760"/>
            <a:ext cx="27706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Transactionally inert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434840"/>
            <a:ext cx="2743200" cy="777240"/>
          </a:xfrm>
          <a:prstGeom prst="rect">
            <a:avLst/>
          </a:prstGeom>
          <a:solidFill>
            <a:srgbClr val="1A1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43484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Georgia"/>
              </a:rPr>
              <a:t>NEXPEC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434840"/>
            <a:ext cx="2651760" cy="777240"/>
          </a:xfrm>
          <a:prstGeom prst="rect">
            <a:avLst/>
          </a:prstGeom>
          <a:solidFill>
            <a:srgbClr val="1A1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44348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8BFA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434840"/>
            <a:ext cx="2651760" cy="777240"/>
          </a:xfrm>
          <a:prstGeom prst="rect">
            <a:avLst/>
          </a:prstGeom>
          <a:solidFill>
            <a:srgbClr val="1A1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8192" y="44348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All three, unified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4434840"/>
            <a:ext cx="3044952" cy="777240"/>
          </a:xfrm>
          <a:prstGeom prst="rect">
            <a:avLst/>
          </a:prstGeom>
          <a:solidFill>
            <a:srgbClr val="1A1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59952" y="4434840"/>
            <a:ext cx="277063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Calibri"/>
              </a:rPr>
              <a:t>Cryptographic chain-of-custody — none have 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AA8C7"/>
                </a:solidFill>
                <a:latin typeface="Calibri"/>
              </a:rPr>
              <a:t>None ship provable evidence from the field photo to the regulator's verifier — because that needs a unified data model built for it from the start.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1F5F9"/>
                </a:solidFill>
                <a:latin typeface="Georgia"/>
              </a:rPr>
              <a:t>The hard part is already built.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49240" cy="361188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Georgia"/>
              </a:rPr>
              <a:t>Live in production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74320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Provable Inspection Engine (seal + countersign)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3639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13639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Compliance Evidence Locker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958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529584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Public /verify endpoint — no-trust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227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922776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Compliance Command Center (6 detectors)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1596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315968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Stripe escrow + Connect payouts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70916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Multi-currency live FX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023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10235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Web + mobile parity on one shared 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2011680"/>
            <a:ext cx="5349240" cy="3611880"/>
          </a:xfrm>
          <a:prstGeom prst="roundRect">
            <a:avLst>
              <a:gd name="adj" fmla="val 7000"/>
            </a:avLst>
          </a:prstGeom>
          <a:solidFill>
            <a:srgbClr val="1A1140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2011680"/>
            <a:ext cx="64008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78BFA"/>
                </a:solidFill>
                <a:latin typeface="Georgia"/>
              </a:rPr>
              <a:t>Commercial 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889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1F5F9"/>
                </a:solidFill>
                <a:latin typeface="Georgia"/>
              </a:rPr>
              <a:t>[ —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inspectors onboarded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7889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1F5F9"/>
                </a:solidFill>
                <a:latin typeface="Georgia"/>
              </a:rPr>
              <a:t>[ —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3558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inspections sealed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148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1F5F9"/>
                </a:solidFill>
                <a:latin typeface="Georgia"/>
              </a:rPr>
              <a:t>[ $—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817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GMV /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148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1F5F9"/>
                </a:solidFill>
                <a:latin typeface="Georgia"/>
              </a:rPr>
              <a:t>[ —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6817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8C7"/>
                </a:solidFill>
                <a:latin typeface="Calibri"/>
              </a:rPr>
              <a:t>enterprise pilots / LOIs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12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[ Fill in real traction numbers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194560"/>
            <a:ext cx="5943600" cy="5943600"/>
          </a:xfrm>
          <a:prstGeom prst="ellipse">
            <a:avLst/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1F5F9"/>
                </a:solidFill>
                <a:latin typeface="Georgia"/>
              </a:rPr>
              <a:t>Raising </a:t>
            </a:r>
            <a:r>
              <a:rPr sz="3200" b="1" i="0">
                <a:solidFill>
                  <a:srgbClr val="A78BFA"/>
                </a:solidFill>
                <a:latin typeface="Georgia"/>
              </a:rPr>
              <a:t>$[amount]</a:t>
            </a:r>
            <a:r>
              <a:rPr sz="3200" b="1" i="0">
                <a:solidFill>
                  <a:srgbClr val="F1F5F9"/>
                </a:solidFill>
                <a:latin typeface="Georgia"/>
              </a:rPr>
              <a:t> to own the trust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945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Georgia"/>
              </a:rPr>
              <a:t>Enterprise GTM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Convert design partners; build the compliance-led sales motion against the live Trust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9202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21945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21945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Georgia"/>
              </a:rPr>
              <a:t>Productionize the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8892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Ship the AI Co-Inspector on the in-house GPU; stand up Intelligence-as-a-Service.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9202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61C36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6" y="21945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1945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Georgia"/>
              </a:rPr>
              <a:t>Security &amp; trust certs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78892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8C7"/>
                </a:solidFill>
                <a:latin typeface="Calibri"/>
              </a:rPr>
              <a:t>SOC 2 + the controls that unlock Fortune-500 procurement.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77639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12132E"/>
          </a:solidFill>
          <a:ln w="1270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77639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8BFA"/>
                </a:solidFill>
                <a:latin typeface="Calibri"/>
              </a:rPr>
              <a:t>Stage-flexible:  </a:t>
            </a:r>
            <a:r>
              <a:rPr sz="1150" b="0" i="0">
                <a:solidFill>
                  <a:srgbClr val="9AA8C7"/>
                </a:solidFill>
                <a:latin typeface="Calibri"/>
              </a:rPr>
              <a:t>Pre-seed — founder fit + a provably-built platform.   Seed — fund enterprise GTM.   Series A — scale a proven wedge. The figure and milestones adjust to the round.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1">
                <a:solidFill>
                  <a:srgbClr val="A78BFA"/>
                </a:solidFill>
                <a:latin typeface="Georgia"/>
              </a:rPr>
              <a:t>The Stripe of inspection trust.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8C7"/>
                </a:solidFill>
                <a:latin typeface="Calibri"/>
              </a:rPr>
              <a:t>The invisible, default infrastructure layer an entire industry runs on — and can prove.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Calibri"/>
              </a:rPr>
              <a:t>NEXPEC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